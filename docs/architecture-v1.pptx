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164592"/>
            <a:ext cx="1133856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 b="1"/>
            </a:pPr>
            <a:r>
              <a:t>Invoice Creation–Submission–Approval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2648"/>
            <a:ext cx="113385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/>
            </a:pPr>
            <a:r>
              <a:t>Three-Tier Architecture Diagram — Version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508760"/>
            <a:ext cx="3246120" cy="3429000"/>
          </a:xfrm>
          <a:prstGeom prst="roundRect">
            <a:avLst/>
          </a:prstGeom>
          <a:noFill/>
          <a:ln w="1905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18488"/>
            <a:ext cx="2971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/>
            </a:pPr>
            <a:r>
              <a:t>1. Presentation 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2697479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• Collect invoice information</a:t>
            </a:r>
          </a:p>
          <a:p>
            <a:pPr algn="l">
              <a:defRPr sz="1100"/>
            </a:pPr>
            <a:r>
              <a:t>• Display invoice form and status</a:t>
            </a:r>
          </a:p>
          <a:p>
            <a:pPr algn="l">
              <a:defRPr sz="1100"/>
            </a:pPr>
            <a:r>
              <a:t>• Provide immediate user feedback</a:t>
            </a:r>
          </a:p>
          <a:p>
            <a:pPr algn="l">
              <a:defRPr sz="1100"/>
            </a:pPr>
            <a:r>
              <a:t>• Send user actions to application logic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508760"/>
            <a:ext cx="3246120" cy="3429000"/>
          </a:xfrm>
          <a:prstGeom prst="roundRect">
            <a:avLst/>
          </a:prstGeom>
          <a:noFill/>
          <a:ln w="1905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1618488"/>
            <a:ext cx="2971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/>
            </a:pPr>
            <a:r>
              <a:t>2. Application Logic Tier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2103120"/>
            <a:ext cx="2697479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• Validate required invoice information</a:t>
            </a:r>
          </a:p>
          <a:p>
            <a:pPr algn="l">
              <a:defRPr sz="1100"/>
            </a:pPr>
            <a:r>
              <a:t>• Enforce business rules</a:t>
            </a:r>
          </a:p>
          <a:p>
            <a:pPr algn="l">
              <a:defRPr sz="1100"/>
            </a:pPr>
            <a:r>
              <a:t>• Control invoice state transitions</a:t>
            </a:r>
          </a:p>
          <a:p>
            <a:pPr algn="l">
              <a:defRPr sz="1100"/>
            </a:pPr>
            <a:r>
              <a:t>• Process approval or rejection decisions</a:t>
            </a:r>
          </a:p>
          <a:p>
            <a:pPr algn="l">
              <a:defRPr sz="1100"/>
            </a:pPr>
            <a:r>
              <a:t>• Generate transaction identifiers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1508760"/>
            <a:ext cx="3246120" cy="3429000"/>
          </a:xfrm>
          <a:prstGeom prst="roundRect">
            <a:avLst/>
          </a:prstGeom>
          <a:noFill/>
          <a:ln w="19050">
            <a:solidFill>
              <a:srgbClr val="464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595360" y="1618488"/>
            <a:ext cx="29718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/>
            </a:pPr>
            <a:r>
              <a:t>3. Data Tier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32520" y="2103120"/>
            <a:ext cx="2697479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/>
            </a:pPr>
            <a:r>
              <a:t>• Store the official invoice record</a:t>
            </a:r>
          </a:p>
          <a:p>
            <a:pPr algn="l">
              <a:defRPr sz="1100"/>
            </a:pPr>
            <a:r>
              <a:t>• Persist client, charge, and status data</a:t>
            </a:r>
          </a:p>
          <a:p>
            <a:pPr algn="l">
              <a:defRPr sz="1100"/>
            </a:pPr>
            <a:r>
              <a:t>• Store timestamps and reviewer decisions</a:t>
            </a:r>
          </a:p>
          <a:p>
            <a:pPr algn="l">
              <a:defRPr sz="1100"/>
            </a:pPr>
            <a:r>
              <a:t>• Preserve audit and history information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2816352"/>
            <a:ext cx="7772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/>
            </a:pPr>
            <a:r>
              <a:t>Request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99248" y="2816352"/>
            <a:ext cx="77724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/>
            </a:pPr>
            <a:r>
              <a:t>Store / retrieve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246369"/>
            <a:ext cx="1069848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/>
            </a:pPr>
            <a:r>
              <a:rPr dirty="0"/>
              <a:t>Flow: the presentation tier collects and displays information; application logic validates and applies rules; the data tier preserves the official persistent record.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73AB845-25FA-0724-6F7E-AA05FCD7DD52}"/>
              </a:ext>
            </a:extLst>
          </p:cNvPr>
          <p:cNvCxnSpPr>
            <a:stCxn id="4" idx="3"/>
            <a:endCxn id="7" idx="1"/>
          </p:cNvCxnSpPr>
          <p:nvPr/>
        </p:nvCxnSpPr>
        <p:spPr>
          <a:xfrm>
            <a:off x="3749040" y="3223260"/>
            <a:ext cx="7315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961C1E1-20E3-3A92-CD4C-AAEDD1B7D494}"/>
              </a:ext>
            </a:extLst>
          </p:cNvPr>
          <p:cNvCxnSpPr/>
          <p:nvPr/>
        </p:nvCxnSpPr>
        <p:spPr>
          <a:xfrm>
            <a:off x="7699248" y="3302508"/>
            <a:ext cx="73152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129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bortiz</dc:creator>
  <cp:keywords/>
  <dc:description>generated using python-pptx</dc:description>
  <cp:lastModifiedBy>Ortiz, Breonna</cp:lastModifiedBy>
  <cp:revision>2</cp:revision>
  <dcterms:created xsi:type="dcterms:W3CDTF">2013-01-27T09:14:16Z</dcterms:created>
  <dcterms:modified xsi:type="dcterms:W3CDTF">2026-09-15T01:10:04Z</dcterms:modified>
  <cp:category/>
</cp:coreProperties>
</file>